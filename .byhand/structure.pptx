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7" r:id="rId3"/>
    <p:sldId id="268" r:id="rId4"/>
    <p:sldId id="265" r:id="rId5"/>
    <p:sldId id="260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3016-8E96-10B0-2888-EEF5E19A6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6CBC6-C761-C95C-B63A-184382943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193A-207E-17E6-73FB-B6265BDF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9A2E6-94FE-C280-F45F-B0B581DE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7B512-EE21-5E28-DB26-E05E72C2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A16C-BAFB-C6BE-5351-2A0FF747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FB37A-9CAC-DC3F-71CA-247BD204B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755DD-A107-144D-1A6D-3DF982B2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E385F-F0D1-117D-E9F8-0701674B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5F917-831D-5840-CA83-8CBBBCD5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5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5831-99CF-381B-1083-09A25E8A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5D3EB-CE3A-9302-4DA5-9012C3683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1F4C0-0D40-C1C3-E19D-5B11B548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507E0-9EA0-2458-8481-36BC3EDF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48288-5059-067F-ED69-ABC5EF1B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9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4C38-950D-6F9B-AC84-450760ED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EF7E-61D9-DC26-9B6E-97FD364F4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D46CE-66A0-33C0-9D4B-16E05B31F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6D899-7234-F756-2418-98D8A4832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0A23C-A5DD-29E8-EA03-BFF22E74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7193D-2F3F-AF03-B283-AC46C832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0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8D73-C66F-822F-EF40-ADF07F5E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855D9-0DAC-556A-8787-F567CAD57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1DA83-B135-B59C-2221-481414BE7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6AAF8E-232D-4772-6CCF-101B777B1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D3B74-70FD-22E0-B5AC-D31B67E24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46E2B-ABD0-827E-F836-FACBD7D1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39AF1-E80D-9252-625D-A6AC6685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1077C6-FBA6-6A85-7096-EE42785C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7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2F59-CFFD-FDF0-0DC0-F1A90AA0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C26036-BE01-5810-15E5-F0FF40E2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38DE9-B922-B754-ACF2-5B52886A6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80E2-C731-81A7-6E07-0EB41DFA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0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0A053-0E08-9EEA-65B7-69574611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D031E-67AE-E35A-C7E5-F384D776C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CB352-E5AE-F003-ED15-CD60D278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3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B5DF-8EAF-373F-2DD6-27EDFE8B0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141D3-059C-A9C4-993E-EBEC4101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6CBF8-74C5-EDEA-2A6E-BCEE328FB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FFAA3-A75B-72CC-D496-91170AC6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300F9-539A-35CE-D71C-8F6C759F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22CF2-4F0D-A844-757C-C3A7B4A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3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957C7-1517-A674-A30B-C23F1610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0AA1E-3885-5499-5515-F82E432133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16FDB-167E-89C5-203D-D4C33C214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EE0FD-C425-349F-AC7A-54F745F6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9D309-4C97-FA8D-8371-7DE479B9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550BD-B121-80E6-D29F-5B85E4F0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0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7813-E694-53CD-560E-8E88E318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C1FD2-4A9C-64C8-DA87-BC93FC4AF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37A3-01C9-F33D-90A8-F630B6F0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99885-E79C-9DBC-4A1C-640A1AFF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1C641-FC03-D732-896C-6EA58087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2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8311E9-19BC-DC8D-819D-20606A688E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2CACD-9B44-D8B5-5A9D-FAC3E7861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2661F-9483-D9B9-50BD-60AF6598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3C47-6243-E81E-A435-CB78CE06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9DEA7-056D-85B4-2007-5130C8DD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2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6270C-1746-F7AB-9262-C5F17CD9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09259-1630-DA3E-D5CD-3530EB088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11416-2EF9-0A84-8402-716423F2D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92ED7-ED10-4C0E-B050-E725A33076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2CADA-1287-59BB-02E3-8652FB7B7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DDC80-E39E-D31B-BB09-21AB4E7DD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2AC73-F288-4B4A-B4B7-2A54F14FA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1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2A83-4859-C505-93EB-DC2AE258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F9DE1-31E9-79C2-A891-21076F620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856" y="1340780"/>
            <a:ext cx="2313039" cy="93721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Spitogatos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CFEB937-EFB0-909B-71E7-505A3C51C32B}"/>
              </a:ext>
            </a:extLst>
          </p:cNvPr>
          <p:cNvSpPr txBox="1">
            <a:spLocks/>
          </p:cNvSpPr>
          <p:nvPr/>
        </p:nvSpPr>
        <p:spPr>
          <a:xfrm>
            <a:off x="103243" y="2380436"/>
            <a:ext cx="1648133" cy="78841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 err="1"/>
              <a:t>Cerved</a:t>
            </a:r>
            <a:endParaRPr lang="en-US" sz="1800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1E5D1D1-B49F-BC71-E375-373D2C646851}"/>
              </a:ext>
            </a:extLst>
          </p:cNvPr>
          <p:cNvSpPr txBox="1">
            <a:spLocks/>
          </p:cNvSpPr>
          <p:nvPr/>
        </p:nvSpPr>
        <p:spPr>
          <a:xfrm>
            <a:off x="129664" y="4389079"/>
            <a:ext cx="1890252" cy="87184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Reinvest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841CD15-932E-0C09-078A-B5653AA11D32}"/>
              </a:ext>
            </a:extLst>
          </p:cNvPr>
          <p:cNvSpPr txBox="1">
            <a:spLocks/>
          </p:cNvSpPr>
          <p:nvPr/>
        </p:nvSpPr>
        <p:spPr>
          <a:xfrm>
            <a:off x="2808033" y="5614877"/>
            <a:ext cx="1833716" cy="82019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err="1"/>
              <a:t>Intrum</a:t>
            </a:r>
            <a:endParaRPr lang="en-US" sz="20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828C3FE-C0B9-E0DB-505B-F302455F3A8F}"/>
              </a:ext>
            </a:extLst>
          </p:cNvPr>
          <p:cNvSpPr txBox="1">
            <a:spLocks/>
          </p:cNvSpPr>
          <p:nvPr/>
        </p:nvSpPr>
        <p:spPr>
          <a:xfrm>
            <a:off x="27735" y="3271453"/>
            <a:ext cx="1833715" cy="93721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Landea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E002C327-1AF5-88C4-5FC6-50853EE4EFFC}"/>
              </a:ext>
            </a:extLst>
          </p:cNvPr>
          <p:cNvSpPr/>
          <p:nvPr/>
        </p:nvSpPr>
        <p:spPr>
          <a:xfrm>
            <a:off x="5511597" y="2373951"/>
            <a:ext cx="1726791" cy="15152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5AF9D3-0F20-C4A7-EAA7-16CE9325A1DD}"/>
              </a:ext>
            </a:extLst>
          </p:cNvPr>
          <p:cNvCxnSpPr>
            <a:cxnSpLocks/>
            <a:stCxn id="5" idx="1"/>
            <a:endCxn id="9" idx="2"/>
          </p:cNvCxnSpPr>
          <p:nvPr/>
        </p:nvCxnSpPr>
        <p:spPr>
          <a:xfrm flipV="1">
            <a:off x="1074790" y="3131582"/>
            <a:ext cx="4436807" cy="212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0EEE73-D48D-8208-A4E5-4B8BA750DC54}"/>
              </a:ext>
            </a:extLst>
          </p:cNvPr>
          <p:cNvCxnSpPr>
            <a:cxnSpLocks/>
            <a:stCxn id="71" idx="1"/>
            <a:endCxn id="9" idx="1"/>
          </p:cNvCxnSpPr>
          <p:nvPr/>
        </p:nvCxnSpPr>
        <p:spPr>
          <a:xfrm flipV="1">
            <a:off x="1751376" y="2373951"/>
            <a:ext cx="4623617" cy="3885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2FDAE7-F3F7-7FD3-A968-040300FCA9F1}"/>
              </a:ext>
            </a:extLst>
          </p:cNvPr>
          <p:cNvCxnSpPr>
            <a:cxnSpLocks/>
            <a:stCxn id="6" idx="1"/>
            <a:endCxn id="9" idx="2"/>
          </p:cNvCxnSpPr>
          <p:nvPr/>
        </p:nvCxnSpPr>
        <p:spPr>
          <a:xfrm>
            <a:off x="1751376" y="2276995"/>
            <a:ext cx="3760221" cy="854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286AF7-4855-7484-14EF-51F26075954F}"/>
              </a:ext>
            </a:extLst>
          </p:cNvPr>
          <p:cNvCxnSpPr>
            <a:cxnSpLocks/>
            <a:stCxn id="8" idx="1"/>
            <a:endCxn id="9" idx="2"/>
          </p:cNvCxnSpPr>
          <p:nvPr/>
        </p:nvCxnSpPr>
        <p:spPr>
          <a:xfrm flipV="1">
            <a:off x="944593" y="3131582"/>
            <a:ext cx="4567004" cy="107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4B3AC1-947A-5974-8ABC-D0AA7F3F9EFD}"/>
              </a:ext>
            </a:extLst>
          </p:cNvPr>
          <p:cNvCxnSpPr>
            <a:cxnSpLocks/>
            <a:stCxn id="4" idx="1"/>
            <a:endCxn id="9" idx="2"/>
          </p:cNvCxnSpPr>
          <p:nvPr/>
        </p:nvCxnSpPr>
        <p:spPr>
          <a:xfrm flipV="1">
            <a:off x="927310" y="3131582"/>
            <a:ext cx="4584287" cy="36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2DF5D4-7B6C-D1D2-AD02-B51D0FF2C3A5}"/>
              </a:ext>
            </a:extLst>
          </p:cNvPr>
          <p:cNvCxnSpPr>
            <a:cxnSpLocks/>
            <a:stCxn id="9" idx="4"/>
            <a:endCxn id="38" idx="0"/>
          </p:cNvCxnSpPr>
          <p:nvPr/>
        </p:nvCxnSpPr>
        <p:spPr>
          <a:xfrm>
            <a:off x="7238388" y="3131582"/>
            <a:ext cx="3762064" cy="791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07622E-3D72-AF6D-677D-D6D4B3286312}"/>
              </a:ext>
            </a:extLst>
          </p:cNvPr>
          <p:cNvCxnSpPr>
            <a:cxnSpLocks/>
            <a:stCxn id="9" idx="4"/>
            <a:endCxn id="35" idx="0"/>
          </p:cNvCxnSpPr>
          <p:nvPr/>
        </p:nvCxnSpPr>
        <p:spPr>
          <a:xfrm flipV="1">
            <a:off x="7238388" y="601175"/>
            <a:ext cx="3804319" cy="2530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Pentagon 34">
            <a:extLst>
              <a:ext uri="{FF2B5EF4-FFF2-40B4-BE49-F238E27FC236}">
                <a16:creationId xmlns:a16="http://schemas.microsoft.com/office/drawing/2014/main" id="{0E5AE118-5013-00A0-6A01-B1D17EB7C7E5}"/>
              </a:ext>
            </a:extLst>
          </p:cNvPr>
          <p:cNvSpPr/>
          <p:nvPr/>
        </p:nvSpPr>
        <p:spPr>
          <a:xfrm>
            <a:off x="9980823" y="601175"/>
            <a:ext cx="2123768" cy="1508776"/>
          </a:xfrm>
          <a:prstGeom prst="pentag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Revaluation  of ***</a:t>
            </a:r>
          </a:p>
        </p:txBody>
      </p:sp>
      <p:sp>
        <p:nvSpPr>
          <p:cNvPr id="38" name="Pentagon 37">
            <a:extLst>
              <a:ext uri="{FF2B5EF4-FFF2-40B4-BE49-F238E27FC236}">
                <a16:creationId xmlns:a16="http://schemas.microsoft.com/office/drawing/2014/main" id="{D7B64FA2-E968-9537-B2B1-89A69CC9DFAD}"/>
              </a:ext>
            </a:extLst>
          </p:cNvPr>
          <p:cNvSpPr/>
          <p:nvPr/>
        </p:nvSpPr>
        <p:spPr>
          <a:xfrm>
            <a:off x="9938568" y="3922615"/>
            <a:ext cx="2123768" cy="1508776"/>
          </a:xfrm>
          <a:prstGeom prst="pentag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 of ***</a:t>
            </a:r>
          </a:p>
        </p:txBody>
      </p:sp>
      <p:sp>
        <p:nvSpPr>
          <p:cNvPr id="41" name="Pentagon 40">
            <a:extLst>
              <a:ext uri="{FF2B5EF4-FFF2-40B4-BE49-F238E27FC236}">
                <a16:creationId xmlns:a16="http://schemas.microsoft.com/office/drawing/2014/main" id="{F5172C11-22DA-6B04-2170-337DDBE79FD6}"/>
              </a:ext>
            </a:extLst>
          </p:cNvPr>
          <p:cNvSpPr/>
          <p:nvPr/>
        </p:nvSpPr>
        <p:spPr>
          <a:xfrm>
            <a:off x="9980823" y="2261895"/>
            <a:ext cx="2123768" cy="1508776"/>
          </a:xfrm>
          <a:prstGeom prst="pentag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Review  ***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09171AD-186B-AFAD-4F43-09B4D19B7479}"/>
              </a:ext>
            </a:extLst>
          </p:cNvPr>
          <p:cNvCxnSpPr>
            <a:cxnSpLocks/>
            <a:stCxn id="9" idx="4"/>
            <a:endCxn id="41" idx="0"/>
          </p:cNvCxnSpPr>
          <p:nvPr/>
        </p:nvCxnSpPr>
        <p:spPr>
          <a:xfrm flipV="1">
            <a:off x="7238388" y="2261895"/>
            <a:ext cx="3804319" cy="869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7C43EB0A-EF85-90BB-E2DB-8B8A1143FE05}"/>
              </a:ext>
            </a:extLst>
          </p:cNvPr>
          <p:cNvSpPr/>
          <p:nvPr/>
        </p:nvSpPr>
        <p:spPr>
          <a:xfrm>
            <a:off x="6509649" y="888775"/>
            <a:ext cx="1890252" cy="7665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Revaluating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D926C87-FB9F-E6E7-A539-926373F4C554}"/>
              </a:ext>
            </a:extLst>
          </p:cNvPr>
          <p:cNvCxnSpPr>
            <a:cxnSpLocks/>
            <a:stCxn id="9" idx="1"/>
            <a:endCxn id="66" idx="4"/>
          </p:cNvCxnSpPr>
          <p:nvPr/>
        </p:nvCxnSpPr>
        <p:spPr>
          <a:xfrm flipV="1">
            <a:off x="6374993" y="1655283"/>
            <a:ext cx="1079782" cy="7186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60136D6F-08EA-292A-3EFD-618530FFD066}"/>
              </a:ext>
            </a:extLst>
          </p:cNvPr>
          <p:cNvSpPr/>
          <p:nvPr/>
        </p:nvSpPr>
        <p:spPr>
          <a:xfrm>
            <a:off x="4641749" y="798810"/>
            <a:ext cx="1726791" cy="799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 Processing</a:t>
            </a:r>
          </a:p>
        </p:txBody>
      </p:sp>
      <p:sp>
        <p:nvSpPr>
          <p:cNvPr id="71" name="Content Placeholder 5">
            <a:extLst>
              <a:ext uri="{FF2B5EF4-FFF2-40B4-BE49-F238E27FC236}">
                <a16:creationId xmlns:a16="http://schemas.microsoft.com/office/drawing/2014/main" id="{8FCDF2B7-757E-7F21-3F26-C9C419E800C5}"/>
              </a:ext>
            </a:extLst>
          </p:cNvPr>
          <p:cNvSpPr txBox="1">
            <a:spLocks/>
          </p:cNvSpPr>
          <p:nvPr/>
        </p:nvSpPr>
        <p:spPr>
          <a:xfrm>
            <a:off x="834518" y="5440408"/>
            <a:ext cx="1833716" cy="82019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TAX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799FE58-17B3-43CE-7F6B-D25E09C22304}"/>
              </a:ext>
            </a:extLst>
          </p:cNvPr>
          <p:cNvCxnSpPr>
            <a:cxnSpLocks/>
            <a:stCxn id="9" idx="1"/>
            <a:endCxn id="70" idx="4"/>
          </p:cNvCxnSpPr>
          <p:nvPr/>
        </p:nvCxnSpPr>
        <p:spPr>
          <a:xfrm flipH="1" flipV="1">
            <a:off x="5505145" y="1598005"/>
            <a:ext cx="869848" cy="775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563D9B2-DF4C-BACB-39D0-B278D6728E2A}"/>
              </a:ext>
            </a:extLst>
          </p:cNvPr>
          <p:cNvCxnSpPr>
            <a:cxnSpLocks/>
            <a:stCxn id="7" idx="1"/>
            <a:endCxn id="9" idx="2"/>
          </p:cNvCxnSpPr>
          <p:nvPr/>
        </p:nvCxnSpPr>
        <p:spPr>
          <a:xfrm flipV="1">
            <a:off x="3724891" y="3131582"/>
            <a:ext cx="1786706" cy="330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Pentagon 119">
            <a:extLst>
              <a:ext uri="{FF2B5EF4-FFF2-40B4-BE49-F238E27FC236}">
                <a16:creationId xmlns:a16="http://schemas.microsoft.com/office/drawing/2014/main" id="{C09EAEA0-3784-6FDC-90F3-C3EE8E444318}"/>
              </a:ext>
            </a:extLst>
          </p:cNvPr>
          <p:cNvSpPr/>
          <p:nvPr/>
        </p:nvSpPr>
        <p:spPr>
          <a:xfrm>
            <a:off x="8307024" y="4984099"/>
            <a:ext cx="2123768" cy="1508776"/>
          </a:xfrm>
          <a:prstGeom prst="pentag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Potential Profit for ***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8931939-4EB1-B9ED-23B8-7F19C7AD170B}"/>
              </a:ext>
            </a:extLst>
          </p:cNvPr>
          <p:cNvCxnSpPr>
            <a:cxnSpLocks/>
            <a:stCxn id="9" idx="4"/>
            <a:endCxn id="120" idx="0"/>
          </p:cNvCxnSpPr>
          <p:nvPr/>
        </p:nvCxnSpPr>
        <p:spPr>
          <a:xfrm>
            <a:off x="7238388" y="3131582"/>
            <a:ext cx="2130520" cy="1852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B3B698F-D660-FA6A-D14F-F47EBFB1DB97}"/>
              </a:ext>
            </a:extLst>
          </p:cNvPr>
          <p:cNvCxnSpPr>
            <a:cxnSpLocks/>
            <a:stCxn id="9" idx="4"/>
            <a:endCxn id="127" idx="0"/>
          </p:cNvCxnSpPr>
          <p:nvPr/>
        </p:nvCxnSpPr>
        <p:spPr>
          <a:xfrm flipH="1">
            <a:off x="7099815" y="3131582"/>
            <a:ext cx="138573" cy="208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7" name="Pentagon 126">
            <a:extLst>
              <a:ext uri="{FF2B5EF4-FFF2-40B4-BE49-F238E27FC236}">
                <a16:creationId xmlns:a16="http://schemas.microsoft.com/office/drawing/2014/main" id="{83ADE447-2E74-31B5-0918-966721AF069A}"/>
              </a:ext>
            </a:extLst>
          </p:cNvPr>
          <p:cNvSpPr/>
          <p:nvPr/>
        </p:nvSpPr>
        <p:spPr>
          <a:xfrm>
            <a:off x="6037931" y="5214837"/>
            <a:ext cx="2123768" cy="1508776"/>
          </a:xfrm>
          <a:prstGeom prst="pentag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 Bid Price for ***</a:t>
            </a:r>
          </a:p>
        </p:txBody>
      </p:sp>
      <p:sp>
        <p:nvSpPr>
          <p:cNvPr id="131" name="Pentagon 130">
            <a:extLst>
              <a:ext uri="{FF2B5EF4-FFF2-40B4-BE49-F238E27FC236}">
                <a16:creationId xmlns:a16="http://schemas.microsoft.com/office/drawing/2014/main" id="{974C5B5C-92BB-AD65-F1C0-139254C0571E}"/>
              </a:ext>
            </a:extLst>
          </p:cNvPr>
          <p:cNvSpPr/>
          <p:nvPr/>
        </p:nvSpPr>
        <p:spPr>
          <a:xfrm>
            <a:off x="6993660" y="3634691"/>
            <a:ext cx="2278158" cy="1508776"/>
          </a:xfrm>
          <a:prstGeom prst="pentag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Inferences from done transactions (i.e. TAX)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76CB961-4277-F830-8539-ABA29A1F1502}"/>
              </a:ext>
            </a:extLst>
          </p:cNvPr>
          <p:cNvCxnSpPr>
            <a:cxnSpLocks/>
            <a:stCxn id="9" idx="4"/>
            <a:endCxn id="131" idx="0"/>
          </p:cNvCxnSpPr>
          <p:nvPr/>
        </p:nvCxnSpPr>
        <p:spPr>
          <a:xfrm>
            <a:off x="7238388" y="3131582"/>
            <a:ext cx="894351" cy="50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29F72AF3-C0F6-ACB7-A58D-05EC61298DD4}"/>
              </a:ext>
            </a:extLst>
          </p:cNvPr>
          <p:cNvSpPr/>
          <p:nvPr/>
        </p:nvSpPr>
        <p:spPr>
          <a:xfrm>
            <a:off x="3078003" y="888775"/>
            <a:ext cx="1120878" cy="8997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DoValue</a:t>
            </a:r>
            <a:endParaRPr lang="en-US" dirty="0"/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682ADE66-1222-BB6E-28E9-8891E4063771}"/>
              </a:ext>
            </a:extLst>
          </p:cNvPr>
          <p:cNvCxnSpPr>
            <a:cxnSpLocks/>
            <a:stCxn id="136" idx="2"/>
          </p:cNvCxnSpPr>
          <p:nvPr/>
        </p:nvCxnSpPr>
        <p:spPr>
          <a:xfrm>
            <a:off x="3638442" y="1788560"/>
            <a:ext cx="2025555" cy="1495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048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0967-ED58-9B4A-BD71-F9393101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Progress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BC072-A608-7B4D-BEF9-B0EA95478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First thin yet full process built on great shield. Then enhancing.</a:t>
            </a:r>
          </a:p>
          <a:p>
            <a:r>
              <a:rPr lang="en-US" dirty="0"/>
              <a:t>Initializing PostgreSQL + </a:t>
            </a:r>
            <a:r>
              <a:rPr lang="en-US" dirty="0" err="1"/>
              <a:t>PostGIS</a:t>
            </a:r>
            <a:endParaRPr lang="en-US" dirty="0"/>
          </a:p>
          <a:p>
            <a:r>
              <a:rPr lang="en-US" dirty="0" err="1"/>
              <a:t>Spitogatos</a:t>
            </a:r>
            <a:r>
              <a:rPr lang="en-US" dirty="0"/>
              <a:t> scraping</a:t>
            </a:r>
          </a:p>
          <a:p>
            <a:r>
              <a:rPr lang="en-US" dirty="0" err="1"/>
              <a:t>Dovalue</a:t>
            </a:r>
            <a:r>
              <a:rPr lang="en-US" dirty="0"/>
              <a:t> Excel converting</a:t>
            </a:r>
          </a:p>
          <a:p>
            <a:r>
              <a:rPr lang="en-US" dirty="0"/>
              <a:t>Revaluation inner process</a:t>
            </a:r>
          </a:p>
          <a:p>
            <a:r>
              <a:rPr lang="en-US" dirty="0"/>
              <a:t>Image processing process. Inserting its results into DB then to Revaluation Process</a:t>
            </a:r>
          </a:p>
          <a:p>
            <a:r>
              <a:rPr lang="en-US" dirty="0"/>
              <a:t>Api for output functions</a:t>
            </a:r>
          </a:p>
          <a:p>
            <a:r>
              <a:rPr lang="en-US" dirty="0"/>
              <a:t>Dashboard contains map, graphs and other inferences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13D853-0529-1E8E-0DF1-8C6F2F5D5F30}"/>
              </a:ext>
            </a:extLst>
          </p:cNvPr>
          <p:cNvSpPr/>
          <p:nvPr/>
        </p:nvSpPr>
        <p:spPr>
          <a:xfrm rot="343773">
            <a:off x="5043948" y="2713703"/>
            <a:ext cx="1602658" cy="53094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hours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92F35F-5221-9731-AA87-D169EF0297A4}"/>
              </a:ext>
            </a:extLst>
          </p:cNvPr>
          <p:cNvSpPr/>
          <p:nvPr/>
        </p:nvSpPr>
        <p:spPr>
          <a:xfrm rot="343773">
            <a:off x="6995651" y="2182761"/>
            <a:ext cx="1602658" cy="53094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hours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4F15EA-06E1-EB31-D57D-5D1DF1982A6E}"/>
              </a:ext>
            </a:extLst>
          </p:cNvPr>
          <p:cNvSpPr/>
          <p:nvPr/>
        </p:nvSpPr>
        <p:spPr>
          <a:xfrm rot="343773">
            <a:off x="6833042" y="3207375"/>
            <a:ext cx="16026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hours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C0F7BE-C79F-2282-849C-12E57B7E14B8}"/>
              </a:ext>
            </a:extLst>
          </p:cNvPr>
          <p:cNvSpPr/>
          <p:nvPr/>
        </p:nvSpPr>
        <p:spPr>
          <a:xfrm rot="343773">
            <a:off x="5191432" y="3601781"/>
            <a:ext cx="16026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 hours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A2197C-BA07-C779-9FF6-16C3ED771A0C}"/>
              </a:ext>
            </a:extLst>
          </p:cNvPr>
          <p:cNvSpPr/>
          <p:nvPr/>
        </p:nvSpPr>
        <p:spPr>
          <a:xfrm rot="343773">
            <a:off x="10122309" y="4132723"/>
            <a:ext cx="16026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 hours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1309A9-771B-E028-FDC0-A3821B1DD810}"/>
              </a:ext>
            </a:extLst>
          </p:cNvPr>
          <p:cNvSpPr/>
          <p:nvPr/>
        </p:nvSpPr>
        <p:spPr>
          <a:xfrm rot="343773">
            <a:off x="4916128" y="4872882"/>
            <a:ext cx="16026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hours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AB57C5-4AF7-CB71-6B5F-8C8E25AF58AD}"/>
              </a:ext>
            </a:extLst>
          </p:cNvPr>
          <p:cNvSpPr/>
          <p:nvPr/>
        </p:nvSpPr>
        <p:spPr>
          <a:xfrm rot="343773">
            <a:off x="9135397" y="5403824"/>
            <a:ext cx="16026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 hours</a:t>
            </a:r>
          </a:p>
        </p:txBody>
      </p:sp>
    </p:spTree>
    <p:extLst>
      <p:ext uri="{BB962C8B-B14F-4D97-AF65-F5344CB8AC3E}">
        <p14:creationId xmlns:p14="http://schemas.microsoft.com/office/powerpoint/2010/main" val="895721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3E06-6B70-345B-AA9F-DB9AF881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Details: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4220D-6BE3-941F-489E-33ABC4A21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AB46-0CC7-5182-99DE-B97DE2CB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DB: </a:t>
            </a:r>
            <a:r>
              <a:rPr lang="en-US" dirty="0" err="1"/>
              <a:t>PostGIS</a:t>
            </a:r>
            <a:r>
              <a:rPr lang="en-US" dirty="0"/>
              <a:t> +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73EE9-6F7C-119D-910C-F5873E9B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 err="1"/>
              <a:t>Spitogatos</a:t>
            </a:r>
            <a:r>
              <a:rPr lang="en-US" dirty="0"/>
              <a:t> Assets</a:t>
            </a:r>
          </a:p>
          <a:p>
            <a:r>
              <a:rPr lang="en-US" dirty="0" err="1"/>
              <a:t>Cerved</a:t>
            </a:r>
            <a:r>
              <a:rPr lang="en-US" dirty="0"/>
              <a:t> Assets</a:t>
            </a:r>
          </a:p>
          <a:p>
            <a:r>
              <a:rPr lang="en-US" dirty="0" err="1"/>
              <a:t>DoValue</a:t>
            </a:r>
            <a:r>
              <a:rPr lang="en-US" dirty="0"/>
              <a:t> Assets</a:t>
            </a:r>
          </a:p>
          <a:p>
            <a:r>
              <a:rPr lang="en-US" dirty="0"/>
              <a:t>Landea Assets</a:t>
            </a:r>
          </a:p>
          <a:p>
            <a:r>
              <a:rPr lang="en-US" dirty="0"/>
              <a:t>Reinvest Assets</a:t>
            </a:r>
          </a:p>
          <a:p>
            <a:r>
              <a:rPr lang="en-US" dirty="0" err="1"/>
              <a:t>Intrum</a:t>
            </a:r>
            <a:r>
              <a:rPr lang="en-US" dirty="0"/>
              <a:t> Assets</a:t>
            </a:r>
          </a:p>
          <a:p>
            <a:r>
              <a:rPr lang="en-US" dirty="0"/>
              <a:t>TAX Transactions</a:t>
            </a:r>
          </a:p>
          <a:p>
            <a:endParaRPr lang="en-US" dirty="0"/>
          </a:p>
          <a:p>
            <a:r>
              <a:rPr lang="en-US" dirty="0"/>
              <a:t>Best Assets 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21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2A28-635B-5356-FC74-EF1634BC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Cerved</a:t>
            </a:r>
            <a:r>
              <a:rPr lang="en-US" dirty="0"/>
              <a:t>, </a:t>
            </a:r>
            <a:r>
              <a:rPr lang="en-US" dirty="0" err="1"/>
              <a:t>ReInvest</a:t>
            </a:r>
            <a:r>
              <a:rPr lang="en-US" dirty="0"/>
              <a:t>, </a:t>
            </a:r>
            <a:r>
              <a:rPr lang="en-US" dirty="0" err="1"/>
              <a:t>Intrum</a:t>
            </a:r>
            <a:r>
              <a:rPr lang="en-US" dirty="0"/>
              <a:t> (WEB to 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D2D2B-34DA-6F8C-7627-A541E4CAC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Scrape All Assets. Into “{***}_assets”</a:t>
            </a:r>
          </a:p>
          <a:p>
            <a:pPr lvl="1"/>
            <a:r>
              <a:rPr lang="en-US" dirty="0"/>
              <a:t>May include inner scraping for each asset in order to get further information</a:t>
            </a:r>
          </a:p>
        </p:txBody>
      </p:sp>
    </p:spTree>
    <p:extLst>
      <p:ext uri="{BB962C8B-B14F-4D97-AF65-F5344CB8AC3E}">
        <p14:creationId xmlns:p14="http://schemas.microsoft.com/office/powerpoint/2010/main" val="371090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F4067-A81D-8DFD-130E-8E008CB7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3A87-C5AD-C9CD-9298-7EBCD7C0F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Spitogatos</a:t>
            </a:r>
            <a:r>
              <a:rPr lang="en-US" dirty="0"/>
              <a:t> (WEB to 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56A83-72AE-7936-AA01-4C4273554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Scrape All Assets. Given Certain Location. Into “</a:t>
            </a:r>
            <a:r>
              <a:rPr lang="en-US" dirty="0" err="1"/>
              <a:t>spitogatos_assets</a:t>
            </a:r>
            <a:r>
              <a:rPr lang="en-US" dirty="0"/>
              <a:t>”</a:t>
            </a:r>
          </a:p>
          <a:p>
            <a:r>
              <a:rPr lang="en-US" dirty="0"/>
              <a:t>Scrape Asset info. Given Asset ID. Into “</a:t>
            </a:r>
            <a:r>
              <a:rPr lang="en-US" dirty="0" err="1"/>
              <a:t>spitogatos_assets</a:t>
            </a:r>
            <a:r>
              <a:rPr lang="en-US" dirty="0"/>
              <a:t>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1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2B2C-2124-32F0-77E0-C9689D24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A4902-891D-141A-728D-19C31830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functions (DB to 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F77A-62BA-C028-B59A-F14CB0253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Image Processing tools for image data (mainly inside URLs).</a:t>
            </a:r>
          </a:p>
          <a:p>
            <a:pPr lvl="1"/>
            <a:r>
              <a:rPr lang="en-US" dirty="0"/>
              <a:t>TODO: find such a tool</a:t>
            </a:r>
          </a:p>
          <a:p>
            <a:r>
              <a:rPr lang="en-US" dirty="0"/>
              <a:t>Revaluating According to “</a:t>
            </a:r>
            <a:r>
              <a:rPr lang="en-US" dirty="0" err="1"/>
              <a:t>spitogatos_assets</a:t>
            </a:r>
            <a:r>
              <a:rPr lang="en-US" dirty="0"/>
              <a:t>”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1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231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Process</vt:lpstr>
      <vt:lpstr>Developing Progress </vt:lpstr>
      <vt:lpstr>Some more Details:</vt:lpstr>
      <vt:lpstr>DB: PostGIS + PostgreSQL</vt:lpstr>
      <vt:lpstr>Cerved, ReInvest, Intrum (WEB to DB)</vt:lpstr>
      <vt:lpstr>Spitogatos (WEB to DB)</vt:lpstr>
      <vt:lpstr>Inner functions (DB to DB)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מיכאל כפיר</dc:creator>
  <cp:lastModifiedBy>מיכאל כפיר</cp:lastModifiedBy>
  <cp:revision>11</cp:revision>
  <dcterms:created xsi:type="dcterms:W3CDTF">2026-02-08T14:23:36Z</dcterms:created>
  <dcterms:modified xsi:type="dcterms:W3CDTF">2026-03-05T11:06:18Z</dcterms:modified>
</cp:coreProperties>
</file>