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8" r:id="rId2"/>
    <p:sldId id="267" r:id="rId3"/>
    <p:sldId id="268" r:id="rId4"/>
    <p:sldId id="265" r:id="rId5"/>
    <p:sldId id="260" r:id="rId6"/>
    <p:sldId id="264" r:id="rId7"/>
    <p:sldId id="266" r:id="rId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78" d="100"/>
          <a:sy n="78" d="100"/>
        </p:scale>
        <p:origin x="806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AF3016-8E96-10B0-2888-EEF5E19A643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F86CBC6-C761-C95C-B63A-18438294331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FF0193A-207E-17E6-73FB-B6265BDFA3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892ED7-ED10-4C0E-B050-E725A33076E1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609A2E6-94FE-C280-F45F-B0B581DE73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1C7B512-EE21-5E28-DB26-E05E72C2D5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F2AC73-F288-4B4A-B4B7-2A54F14FA0C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51884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EAA16C-BAFB-C6BE-5351-2A0FF74772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D2FB37A-9CAC-DC3F-71CA-247BD204B62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C0755DD-A107-144D-1A6D-3DF982B26B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892ED7-ED10-4C0E-B050-E725A33076E1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34E385F-F0D1-117D-E9F8-0701674B14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0B5F917-831D-5840-CA83-8CBBBCD56C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F2AC73-F288-4B4A-B4B7-2A54F14FA0C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9925363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FE5831-99CF-381B-1083-09A25E8A3C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765D3EB-CE3A-9302-4DA5-9012C36838D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181F4C0-0D40-C1C3-E19D-5B11B54820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892ED7-ED10-4C0E-B050-E725A33076E1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E5507E0-9EA0-2458-8481-36BC3EDFEA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A148288-5059-067F-ED69-ABC5EF1BA6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F2AC73-F288-4B4A-B4B7-2A54F14FA0C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879653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944C38-950D-6F9B-AC84-450760ED25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770EF7E-61D9-DC26-9B6E-97FD364F480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3AD46CE-66A0-33C0-9D4B-16E05B31FD2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7D6D899-7234-F756-2418-98D8A48328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892ED7-ED10-4C0E-B050-E725A33076E1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1A0A23C-A5DD-29E8-EA03-BFF22E74C6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577193D-2F3F-AF03-B283-AC46C8323C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F2AC73-F288-4B4A-B4B7-2A54F14FA0C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3810083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DF8D73-C66F-822F-EF40-ADF07F5E8D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2A855D9-0DAC-556A-8787-F567CAD572F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881DA83-B135-B59C-2221-481414BE757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56AAF8E-232D-4772-6CCF-101B777B154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81D3B74-70FD-22E0-B5AC-D31B67E245B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C946E2B-ABD0-827E-F836-FACBD7D193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892ED7-ED10-4C0E-B050-E725A33076E1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5739AF1-E80D-9252-625D-A6AC6685DA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D1077C6-FBA6-6A85-7096-EE42785CBE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F2AC73-F288-4B4A-B4B7-2A54F14FA0C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5467326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052F59-CFFD-FDF0-0DC0-F1A90AA0F8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3C26036-BE01-5810-15E5-F0FF40E2AC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892ED7-ED10-4C0E-B050-E725A33076E1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7B38DE9-B922-B754-ACF2-5B52886A6D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BDC80E2-C731-81A7-6E07-0EB41DFA2D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F2AC73-F288-4B4A-B4B7-2A54F14FA0C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3470672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CF0A053-0E08-9EEA-65B7-6957461187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892ED7-ED10-4C0E-B050-E725A33076E1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DDD031E-67AE-E35A-C7E5-F384D776CE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2FCB352-E5AE-F003-ED15-CD60D278A2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F2AC73-F288-4B4A-B4B7-2A54F14FA0C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8503458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9BB5DF-8EAF-373F-2DD6-27EDFE8B00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D141D3-059C-A9C4-993E-EBEC4101B19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D86CBF8-74C5-EDEA-2A6E-BCEE328FBD6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2FFFAA3-A75B-72CC-D496-91170AC6AB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892ED7-ED10-4C0E-B050-E725A33076E1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E4300F9-539A-35CE-D71C-8F6C759FE2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5D22CF2-4F0D-A844-757C-C3A7B4A230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F2AC73-F288-4B4A-B4B7-2A54F14FA0C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893015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D957C7-1517-A674-A30B-C23F16103B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000AA1E-3885-5499-5515-F82E4321334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1816FDB-167E-89C5-203D-D4C33C214A7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8CEE0FD-C425-349F-AC7A-54F745F6D2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892ED7-ED10-4C0E-B050-E725A33076E1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739D309-4C97-FA8D-8371-7DE479B9BF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0F550BD-B121-80E6-D29F-5B85E4F079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F2AC73-F288-4B4A-B4B7-2A54F14FA0C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300040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437813-E694-53CD-560E-8E88E31850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F6C1FD2-4A9C-64C8-DA87-BC93FC4AF36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AA337A3-01C9-F33D-90A8-F630B6F084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892ED7-ED10-4C0E-B050-E725A33076E1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8C99885-E79C-9DBC-4A1C-640A1AFFA6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871C641-FC03-D732-896C-6EA58087A0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F2AC73-F288-4B4A-B4B7-2A54F14FA0C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122974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8E8311E9-19BC-DC8D-819D-20606A688EE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502CACD-9B44-D8B5-5A9D-FAC3E786125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FA2661F-9483-D9B9-50BD-60AF659882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892ED7-ED10-4C0E-B050-E725A33076E1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D643C47-6243-E81E-A435-CB78CE0655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049DEA7-056D-85B4-2007-5130C8DD0C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F2AC73-F288-4B4A-B4B7-2A54F14FA0C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552151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0E6270C-1746-F7AB-9262-C5F17CD920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EA09259-1630-DA3E-D5CD-3530EB088CB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7311416-2EF9-0A84-8402-716423F2D85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7892ED7-ED10-4C0E-B050-E725A33076E1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902CADA-1287-59BB-02E3-8652FB7B710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9CDDC80-E39E-D31B-BB09-21AB4E7DDA5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CF2AC73-F288-4B4A-B4B7-2A54F14FA0C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781377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022A83-4859-C505-93EB-DC2AE25872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Process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EAF9DE1-31E9-79C2-A891-21076F62075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4856" y="1340780"/>
            <a:ext cx="2313039" cy="937213"/>
          </a:xfrm>
          <a:prstGeom prst="cloud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 err="1"/>
              <a:t>Spitogatos</a:t>
            </a:r>
            <a:endParaRPr lang="en-US" dirty="0"/>
          </a:p>
        </p:txBody>
      </p:sp>
      <p:sp>
        <p:nvSpPr>
          <p:cNvPr id="4" name="Content Placeholder 5">
            <a:extLst>
              <a:ext uri="{FF2B5EF4-FFF2-40B4-BE49-F238E27FC236}">
                <a16:creationId xmlns:a16="http://schemas.microsoft.com/office/drawing/2014/main" id="{9CFEB937-EFB0-909B-71E7-505A3C51C32B}"/>
              </a:ext>
            </a:extLst>
          </p:cNvPr>
          <p:cNvSpPr txBox="1">
            <a:spLocks/>
          </p:cNvSpPr>
          <p:nvPr/>
        </p:nvSpPr>
        <p:spPr>
          <a:xfrm>
            <a:off x="103243" y="2380436"/>
            <a:ext cx="1648133" cy="788416"/>
          </a:xfrm>
          <a:prstGeom prst="cloud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ctr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1800" dirty="0" err="1"/>
              <a:t>Cerved</a:t>
            </a:r>
            <a:endParaRPr lang="en-US" sz="1800" dirty="0"/>
          </a:p>
        </p:txBody>
      </p:sp>
      <p:sp>
        <p:nvSpPr>
          <p:cNvPr id="5" name="Content Placeholder 5">
            <a:extLst>
              <a:ext uri="{FF2B5EF4-FFF2-40B4-BE49-F238E27FC236}">
                <a16:creationId xmlns:a16="http://schemas.microsoft.com/office/drawing/2014/main" id="{F1E5D1D1-B49F-BC71-E375-373D2C646851}"/>
              </a:ext>
            </a:extLst>
          </p:cNvPr>
          <p:cNvSpPr txBox="1">
            <a:spLocks/>
          </p:cNvSpPr>
          <p:nvPr/>
        </p:nvSpPr>
        <p:spPr>
          <a:xfrm>
            <a:off x="129664" y="4389079"/>
            <a:ext cx="1890252" cy="871844"/>
          </a:xfrm>
          <a:prstGeom prst="cloud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ctr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1800" dirty="0"/>
              <a:t>Reinvest</a:t>
            </a:r>
          </a:p>
        </p:txBody>
      </p:sp>
      <p:sp>
        <p:nvSpPr>
          <p:cNvPr id="7" name="Content Placeholder 5">
            <a:extLst>
              <a:ext uri="{FF2B5EF4-FFF2-40B4-BE49-F238E27FC236}">
                <a16:creationId xmlns:a16="http://schemas.microsoft.com/office/drawing/2014/main" id="{4841CD15-932E-0C09-078A-B5653AA11D32}"/>
              </a:ext>
            </a:extLst>
          </p:cNvPr>
          <p:cNvSpPr txBox="1">
            <a:spLocks/>
          </p:cNvSpPr>
          <p:nvPr/>
        </p:nvSpPr>
        <p:spPr>
          <a:xfrm>
            <a:off x="2808033" y="5614877"/>
            <a:ext cx="1833716" cy="820193"/>
          </a:xfrm>
          <a:prstGeom prst="cloud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ctr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2000" dirty="0" err="1"/>
              <a:t>Intrum</a:t>
            </a:r>
            <a:endParaRPr lang="en-US" sz="2000" dirty="0"/>
          </a:p>
        </p:txBody>
      </p:sp>
      <p:sp>
        <p:nvSpPr>
          <p:cNvPr id="8" name="Content Placeholder 5">
            <a:extLst>
              <a:ext uri="{FF2B5EF4-FFF2-40B4-BE49-F238E27FC236}">
                <a16:creationId xmlns:a16="http://schemas.microsoft.com/office/drawing/2014/main" id="{9828C3FE-C0B9-E0DB-505B-F302455F3A8F}"/>
              </a:ext>
            </a:extLst>
          </p:cNvPr>
          <p:cNvSpPr txBox="1">
            <a:spLocks/>
          </p:cNvSpPr>
          <p:nvPr/>
        </p:nvSpPr>
        <p:spPr>
          <a:xfrm>
            <a:off x="27735" y="3271453"/>
            <a:ext cx="1833715" cy="937213"/>
          </a:xfrm>
          <a:prstGeom prst="cloud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ctr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2000" dirty="0"/>
              <a:t>Landea</a:t>
            </a:r>
          </a:p>
        </p:txBody>
      </p:sp>
      <p:sp>
        <p:nvSpPr>
          <p:cNvPr id="9" name="Flowchart: Magnetic Disk 8">
            <a:extLst>
              <a:ext uri="{FF2B5EF4-FFF2-40B4-BE49-F238E27FC236}">
                <a16:creationId xmlns:a16="http://schemas.microsoft.com/office/drawing/2014/main" id="{E002C327-1AF5-88C4-5FC6-50853EE4EFFC}"/>
              </a:ext>
            </a:extLst>
          </p:cNvPr>
          <p:cNvSpPr/>
          <p:nvPr/>
        </p:nvSpPr>
        <p:spPr>
          <a:xfrm>
            <a:off x="5511597" y="2373951"/>
            <a:ext cx="1726791" cy="1515261"/>
          </a:xfrm>
          <a:prstGeom prst="flowChartMagneticDisk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DB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5B5AF9D3-0F20-C4A7-EAA7-16CE9325A1DD}"/>
              </a:ext>
            </a:extLst>
          </p:cNvPr>
          <p:cNvCxnSpPr>
            <a:cxnSpLocks/>
            <a:stCxn id="5" idx="1"/>
            <a:endCxn id="9" idx="2"/>
          </p:cNvCxnSpPr>
          <p:nvPr/>
        </p:nvCxnSpPr>
        <p:spPr>
          <a:xfrm flipV="1">
            <a:off x="1074790" y="3131582"/>
            <a:ext cx="4436807" cy="212841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680EEE73-D48D-8208-A4E5-4B8BA750DC54}"/>
              </a:ext>
            </a:extLst>
          </p:cNvPr>
          <p:cNvCxnSpPr>
            <a:cxnSpLocks/>
            <a:stCxn id="71" idx="1"/>
            <a:endCxn id="9" idx="1"/>
          </p:cNvCxnSpPr>
          <p:nvPr/>
        </p:nvCxnSpPr>
        <p:spPr>
          <a:xfrm flipV="1">
            <a:off x="1751376" y="2373951"/>
            <a:ext cx="4623617" cy="388577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812FDAE7-F3F7-7FD3-A968-040300FCA9F1}"/>
              </a:ext>
            </a:extLst>
          </p:cNvPr>
          <p:cNvCxnSpPr>
            <a:cxnSpLocks/>
            <a:stCxn id="6" idx="1"/>
            <a:endCxn id="9" idx="2"/>
          </p:cNvCxnSpPr>
          <p:nvPr/>
        </p:nvCxnSpPr>
        <p:spPr>
          <a:xfrm>
            <a:off x="1751376" y="2276995"/>
            <a:ext cx="3760221" cy="85458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82286AF7-4855-7484-14EF-51F26075954F}"/>
              </a:ext>
            </a:extLst>
          </p:cNvPr>
          <p:cNvCxnSpPr>
            <a:cxnSpLocks/>
            <a:stCxn id="8" idx="1"/>
            <a:endCxn id="9" idx="2"/>
          </p:cNvCxnSpPr>
          <p:nvPr/>
        </p:nvCxnSpPr>
        <p:spPr>
          <a:xfrm flipV="1">
            <a:off x="944593" y="3131582"/>
            <a:ext cx="4567004" cy="107608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F94B3AC1-947A-5974-8ABC-D0AA7F3F9EFD}"/>
              </a:ext>
            </a:extLst>
          </p:cNvPr>
          <p:cNvCxnSpPr>
            <a:cxnSpLocks/>
            <a:stCxn id="4" idx="1"/>
            <a:endCxn id="9" idx="2"/>
          </p:cNvCxnSpPr>
          <p:nvPr/>
        </p:nvCxnSpPr>
        <p:spPr>
          <a:xfrm flipV="1">
            <a:off x="927310" y="3131582"/>
            <a:ext cx="4584287" cy="3643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8C2DF5D4-7B6C-D1D2-AD02-B51D0FF2C3A5}"/>
              </a:ext>
            </a:extLst>
          </p:cNvPr>
          <p:cNvCxnSpPr>
            <a:cxnSpLocks/>
            <a:stCxn id="9" idx="4"/>
            <a:endCxn id="38" idx="0"/>
          </p:cNvCxnSpPr>
          <p:nvPr/>
        </p:nvCxnSpPr>
        <p:spPr>
          <a:xfrm>
            <a:off x="7238388" y="3131582"/>
            <a:ext cx="3762064" cy="79103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7207622E-3D72-AF6D-677D-D6D4B3286312}"/>
              </a:ext>
            </a:extLst>
          </p:cNvPr>
          <p:cNvCxnSpPr>
            <a:cxnSpLocks/>
            <a:stCxn id="9" idx="4"/>
            <a:endCxn id="35" idx="0"/>
          </p:cNvCxnSpPr>
          <p:nvPr/>
        </p:nvCxnSpPr>
        <p:spPr>
          <a:xfrm flipV="1">
            <a:off x="7238388" y="601175"/>
            <a:ext cx="3804319" cy="253040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35" name="Pentagon 34">
            <a:extLst>
              <a:ext uri="{FF2B5EF4-FFF2-40B4-BE49-F238E27FC236}">
                <a16:creationId xmlns:a16="http://schemas.microsoft.com/office/drawing/2014/main" id="{0E5AE118-5013-00A0-6A01-B1D17EB7C7E5}"/>
              </a:ext>
            </a:extLst>
          </p:cNvPr>
          <p:cNvSpPr/>
          <p:nvPr/>
        </p:nvSpPr>
        <p:spPr>
          <a:xfrm>
            <a:off x="9980823" y="601175"/>
            <a:ext cx="2123768" cy="1508776"/>
          </a:xfrm>
          <a:prstGeom prst="pentagon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Revaluation  of ***</a:t>
            </a:r>
          </a:p>
        </p:txBody>
      </p:sp>
      <p:sp>
        <p:nvSpPr>
          <p:cNvPr id="38" name="Pentagon 37">
            <a:extLst>
              <a:ext uri="{FF2B5EF4-FFF2-40B4-BE49-F238E27FC236}">
                <a16:creationId xmlns:a16="http://schemas.microsoft.com/office/drawing/2014/main" id="{D7B64FA2-E968-9537-B2B1-89A69CC9DFAD}"/>
              </a:ext>
            </a:extLst>
          </p:cNvPr>
          <p:cNvSpPr/>
          <p:nvPr/>
        </p:nvSpPr>
        <p:spPr>
          <a:xfrm>
            <a:off x="9938568" y="3922615"/>
            <a:ext cx="2123768" cy="1508776"/>
          </a:xfrm>
          <a:prstGeom prst="pentagon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Best  of ***</a:t>
            </a:r>
          </a:p>
        </p:txBody>
      </p:sp>
      <p:sp>
        <p:nvSpPr>
          <p:cNvPr id="41" name="Pentagon 40">
            <a:extLst>
              <a:ext uri="{FF2B5EF4-FFF2-40B4-BE49-F238E27FC236}">
                <a16:creationId xmlns:a16="http://schemas.microsoft.com/office/drawing/2014/main" id="{F5172C11-22DA-6B04-2170-337DDBE79FD6}"/>
              </a:ext>
            </a:extLst>
          </p:cNvPr>
          <p:cNvSpPr/>
          <p:nvPr/>
        </p:nvSpPr>
        <p:spPr>
          <a:xfrm>
            <a:off x="9980823" y="2261895"/>
            <a:ext cx="2123768" cy="1508776"/>
          </a:xfrm>
          <a:prstGeom prst="pentagon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/>
              <a:t>Review  ***</a:t>
            </a:r>
          </a:p>
        </p:txBody>
      </p: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A09171AD-186B-AFAD-4F43-09B4D19B7479}"/>
              </a:ext>
            </a:extLst>
          </p:cNvPr>
          <p:cNvCxnSpPr>
            <a:cxnSpLocks/>
            <a:stCxn id="9" idx="4"/>
            <a:endCxn id="41" idx="0"/>
          </p:cNvCxnSpPr>
          <p:nvPr/>
        </p:nvCxnSpPr>
        <p:spPr>
          <a:xfrm flipV="1">
            <a:off x="7238388" y="2261895"/>
            <a:ext cx="3804319" cy="86968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66" name="Oval 65">
            <a:extLst>
              <a:ext uri="{FF2B5EF4-FFF2-40B4-BE49-F238E27FC236}">
                <a16:creationId xmlns:a16="http://schemas.microsoft.com/office/drawing/2014/main" id="{7C43EB0A-EF85-90BB-E2DB-8B8A1143FE05}"/>
              </a:ext>
            </a:extLst>
          </p:cNvPr>
          <p:cNvSpPr/>
          <p:nvPr/>
        </p:nvSpPr>
        <p:spPr>
          <a:xfrm>
            <a:off x="6509649" y="888775"/>
            <a:ext cx="1890252" cy="766508"/>
          </a:xfrm>
          <a:prstGeom prst="ellipse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Revaluating</a:t>
            </a:r>
          </a:p>
        </p:txBody>
      </p:sp>
      <p:cxnSp>
        <p:nvCxnSpPr>
          <p:cNvPr id="68" name="Straight Connector 67">
            <a:extLst>
              <a:ext uri="{FF2B5EF4-FFF2-40B4-BE49-F238E27FC236}">
                <a16:creationId xmlns:a16="http://schemas.microsoft.com/office/drawing/2014/main" id="{7D926C87-FB9F-E6E7-A539-926373F4C554}"/>
              </a:ext>
            </a:extLst>
          </p:cNvPr>
          <p:cNvCxnSpPr>
            <a:cxnSpLocks/>
            <a:stCxn id="9" idx="1"/>
            <a:endCxn id="66" idx="4"/>
          </p:cNvCxnSpPr>
          <p:nvPr/>
        </p:nvCxnSpPr>
        <p:spPr>
          <a:xfrm flipV="1">
            <a:off x="6374993" y="1655283"/>
            <a:ext cx="1079782" cy="718668"/>
          </a:xfrm>
          <a:prstGeom prst="line">
            <a:avLst/>
          </a:prstGeom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70" name="Oval 69">
            <a:extLst>
              <a:ext uri="{FF2B5EF4-FFF2-40B4-BE49-F238E27FC236}">
                <a16:creationId xmlns:a16="http://schemas.microsoft.com/office/drawing/2014/main" id="{60136D6F-08EA-292A-3EFD-618530FFD066}"/>
              </a:ext>
            </a:extLst>
          </p:cNvPr>
          <p:cNvSpPr/>
          <p:nvPr/>
        </p:nvSpPr>
        <p:spPr>
          <a:xfrm>
            <a:off x="4641749" y="798810"/>
            <a:ext cx="1726791" cy="799195"/>
          </a:xfrm>
          <a:prstGeom prst="ellipse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Image Processing</a:t>
            </a:r>
          </a:p>
        </p:txBody>
      </p:sp>
      <p:sp>
        <p:nvSpPr>
          <p:cNvPr id="71" name="Content Placeholder 5">
            <a:extLst>
              <a:ext uri="{FF2B5EF4-FFF2-40B4-BE49-F238E27FC236}">
                <a16:creationId xmlns:a16="http://schemas.microsoft.com/office/drawing/2014/main" id="{8FCDF2B7-757E-7F21-3F26-C9C419E800C5}"/>
              </a:ext>
            </a:extLst>
          </p:cNvPr>
          <p:cNvSpPr txBox="1">
            <a:spLocks/>
          </p:cNvSpPr>
          <p:nvPr/>
        </p:nvSpPr>
        <p:spPr>
          <a:xfrm>
            <a:off x="834518" y="5440408"/>
            <a:ext cx="1833716" cy="820193"/>
          </a:xfrm>
          <a:prstGeom prst="cloud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ctr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2000" dirty="0"/>
              <a:t>TAX</a:t>
            </a:r>
          </a:p>
        </p:txBody>
      </p:sp>
      <p:cxnSp>
        <p:nvCxnSpPr>
          <p:cNvPr id="72" name="Straight Connector 71">
            <a:extLst>
              <a:ext uri="{FF2B5EF4-FFF2-40B4-BE49-F238E27FC236}">
                <a16:creationId xmlns:a16="http://schemas.microsoft.com/office/drawing/2014/main" id="{E799FE58-17B3-43CE-7F6B-D25E09C22304}"/>
              </a:ext>
            </a:extLst>
          </p:cNvPr>
          <p:cNvCxnSpPr>
            <a:cxnSpLocks/>
            <a:stCxn id="9" idx="1"/>
            <a:endCxn id="70" idx="4"/>
          </p:cNvCxnSpPr>
          <p:nvPr/>
        </p:nvCxnSpPr>
        <p:spPr>
          <a:xfrm flipH="1" flipV="1">
            <a:off x="5505145" y="1598005"/>
            <a:ext cx="869848" cy="775946"/>
          </a:xfrm>
          <a:prstGeom prst="line">
            <a:avLst/>
          </a:prstGeom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03" name="Straight Arrow Connector 102">
            <a:extLst>
              <a:ext uri="{FF2B5EF4-FFF2-40B4-BE49-F238E27FC236}">
                <a16:creationId xmlns:a16="http://schemas.microsoft.com/office/drawing/2014/main" id="{7563D9B2-DF4C-BACB-39D0-B278D6728E2A}"/>
              </a:ext>
            </a:extLst>
          </p:cNvPr>
          <p:cNvCxnSpPr>
            <a:cxnSpLocks/>
            <a:stCxn id="7" idx="1"/>
            <a:endCxn id="9" idx="2"/>
          </p:cNvCxnSpPr>
          <p:nvPr/>
        </p:nvCxnSpPr>
        <p:spPr>
          <a:xfrm flipV="1">
            <a:off x="3724891" y="3131582"/>
            <a:ext cx="1786706" cy="330261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0" name="Pentagon 119">
            <a:extLst>
              <a:ext uri="{FF2B5EF4-FFF2-40B4-BE49-F238E27FC236}">
                <a16:creationId xmlns:a16="http://schemas.microsoft.com/office/drawing/2014/main" id="{C09EAEA0-3784-6FDC-90F3-C3EE8E444318}"/>
              </a:ext>
            </a:extLst>
          </p:cNvPr>
          <p:cNvSpPr/>
          <p:nvPr/>
        </p:nvSpPr>
        <p:spPr>
          <a:xfrm>
            <a:off x="8307024" y="4984099"/>
            <a:ext cx="2123768" cy="1508776"/>
          </a:xfrm>
          <a:prstGeom prst="pentagon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Potential Profit for ***</a:t>
            </a:r>
          </a:p>
        </p:txBody>
      </p:sp>
      <p:cxnSp>
        <p:nvCxnSpPr>
          <p:cNvPr id="121" name="Straight Arrow Connector 120">
            <a:extLst>
              <a:ext uri="{FF2B5EF4-FFF2-40B4-BE49-F238E27FC236}">
                <a16:creationId xmlns:a16="http://schemas.microsoft.com/office/drawing/2014/main" id="{48931939-4EB1-B9ED-23B8-7F19C7AD170B}"/>
              </a:ext>
            </a:extLst>
          </p:cNvPr>
          <p:cNvCxnSpPr>
            <a:cxnSpLocks/>
            <a:stCxn id="9" idx="4"/>
            <a:endCxn id="120" idx="0"/>
          </p:cNvCxnSpPr>
          <p:nvPr/>
        </p:nvCxnSpPr>
        <p:spPr>
          <a:xfrm>
            <a:off x="7238388" y="3131582"/>
            <a:ext cx="2130520" cy="185251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124" name="Straight Arrow Connector 123">
            <a:extLst>
              <a:ext uri="{FF2B5EF4-FFF2-40B4-BE49-F238E27FC236}">
                <a16:creationId xmlns:a16="http://schemas.microsoft.com/office/drawing/2014/main" id="{EB3B698F-D660-FA6A-D14F-F47EBFB1DB97}"/>
              </a:ext>
            </a:extLst>
          </p:cNvPr>
          <p:cNvCxnSpPr>
            <a:cxnSpLocks/>
            <a:stCxn id="9" idx="4"/>
            <a:endCxn id="127" idx="0"/>
          </p:cNvCxnSpPr>
          <p:nvPr/>
        </p:nvCxnSpPr>
        <p:spPr>
          <a:xfrm flipH="1">
            <a:off x="7099815" y="3131582"/>
            <a:ext cx="138573" cy="208325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127" name="Pentagon 126">
            <a:extLst>
              <a:ext uri="{FF2B5EF4-FFF2-40B4-BE49-F238E27FC236}">
                <a16:creationId xmlns:a16="http://schemas.microsoft.com/office/drawing/2014/main" id="{83ADE447-2E74-31B5-0918-966721AF069A}"/>
              </a:ext>
            </a:extLst>
          </p:cNvPr>
          <p:cNvSpPr/>
          <p:nvPr/>
        </p:nvSpPr>
        <p:spPr>
          <a:xfrm>
            <a:off x="6037931" y="5214837"/>
            <a:ext cx="2123768" cy="1508776"/>
          </a:xfrm>
          <a:prstGeom prst="pentagon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Max Bid Price for ***</a:t>
            </a:r>
          </a:p>
        </p:txBody>
      </p:sp>
      <p:sp>
        <p:nvSpPr>
          <p:cNvPr id="131" name="Pentagon 130">
            <a:extLst>
              <a:ext uri="{FF2B5EF4-FFF2-40B4-BE49-F238E27FC236}">
                <a16:creationId xmlns:a16="http://schemas.microsoft.com/office/drawing/2014/main" id="{974C5B5C-92BB-AD65-F1C0-139254C0571E}"/>
              </a:ext>
            </a:extLst>
          </p:cNvPr>
          <p:cNvSpPr/>
          <p:nvPr/>
        </p:nvSpPr>
        <p:spPr>
          <a:xfrm>
            <a:off x="6993660" y="3634691"/>
            <a:ext cx="2278158" cy="1508776"/>
          </a:xfrm>
          <a:prstGeom prst="pentagon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Inferences from done transactions (i.e. TAX)</a:t>
            </a:r>
          </a:p>
        </p:txBody>
      </p:sp>
      <p:cxnSp>
        <p:nvCxnSpPr>
          <p:cNvPr id="132" name="Straight Arrow Connector 131">
            <a:extLst>
              <a:ext uri="{FF2B5EF4-FFF2-40B4-BE49-F238E27FC236}">
                <a16:creationId xmlns:a16="http://schemas.microsoft.com/office/drawing/2014/main" id="{E76CB961-4277-F830-8539-ABA29A1F1502}"/>
              </a:ext>
            </a:extLst>
          </p:cNvPr>
          <p:cNvCxnSpPr>
            <a:cxnSpLocks/>
            <a:stCxn id="9" idx="4"/>
            <a:endCxn id="131" idx="0"/>
          </p:cNvCxnSpPr>
          <p:nvPr/>
        </p:nvCxnSpPr>
        <p:spPr>
          <a:xfrm>
            <a:off x="7238388" y="3131582"/>
            <a:ext cx="894351" cy="50310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136" name="Rectangle: Rounded Corners 135">
            <a:extLst>
              <a:ext uri="{FF2B5EF4-FFF2-40B4-BE49-F238E27FC236}">
                <a16:creationId xmlns:a16="http://schemas.microsoft.com/office/drawing/2014/main" id="{29F72AF3-C0F6-ACB7-A58D-05EC61298DD4}"/>
              </a:ext>
            </a:extLst>
          </p:cNvPr>
          <p:cNvSpPr/>
          <p:nvPr/>
        </p:nvSpPr>
        <p:spPr>
          <a:xfrm>
            <a:off x="3078003" y="888775"/>
            <a:ext cx="1120878" cy="899785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DoValue</a:t>
            </a:r>
            <a:endParaRPr lang="en-US" dirty="0"/>
          </a:p>
        </p:txBody>
      </p:sp>
      <p:cxnSp>
        <p:nvCxnSpPr>
          <p:cNvPr id="137" name="Straight Arrow Connector 136">
            <a:extLst>
              <a:ext uri="{FF2B5EF4-FFF2-40B4-BE49-F238E27FC236}">
                <a16:creationId xmlns:a16="http://schemas.microsoft.com/office/drawing/2014/main" id="{682ADE66-1222-BB6E-28E9-8891E4063771}"/>
              </a:ext>
            </a:extLst>
          </p:cNvPr>
          <p:cNvCxnSpPr>
            <a:cxnSpLocks/>
            <a:stCxn id="136" idx="2"/>
          </p:cNvCxnSpPr>
          <p:nvPr/>
        </p:nvCxnSpPr>
        <p:spPr>
          <a:xfrm>
            <a:off x="3638442" y="1788560"/>
            <a:ext cx="2025555" cy="149542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3004838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D40967-ED58-9B4A-BD71-F93931014F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Developing Progress	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5BBC072-A608-7B4D-BEF9-B0EA95478B1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b="1" dirty="0"/>
              <a:t>First thin yet full process built on great shield. Then enhancing.</a:t>
            </a:r>
          </a:p>
          <a:p>
            <a:r>
              <a:rPr lang="en-US" dirty="0"/>
              <a:t>Initializing PostgreSQL + </a:t>
            </a:r>
            <a:r>
              <a:rPr lang="en-US" dirty="0" err="1"/>
              <a:t>PostGIS</a:t>
            </a:r>
            <a:endParaRPr lang="en-US" dirty="0"/>
          </a:p>
          <a:p>
            <a:r>
              <a:rPr lang="en-US" dirty="0" err="1"/>
              <a:t>Spitogatos</a:t>
            </a:r>
            <a:r>
              <a:rPr lang="en-US" dirty="0"/>
              <a:t> scraping</a:t>
            </a:r>
          </a:p>
          <a:p>
            <a:r>
              <a:rPr lang="en-US" dirty="0" err="1"/>
              <a:t>Dovalue</a:t>
            </a:r>
            <a:r>
              <a:rPr lang="en-US" dirty="0"/>
              <a:t> Excel converting</a:t>
            </a:r>
          </a:p>
          <a:p>
            <a:r>
              <a:rPr lang="en-US" dirty="0"/>
              <a:t>Revaluation inner process</a:t>
            </a:r>
          </a:p>
          <a:p>
            <a:r>
              <a:rPr lang="en-US" dirty="0"/>
              <a:t>Image processing process. Inserting its results into DB then to Revaluation Process</a:t>
            </a:r>
          </a:p>
          <a:p>
            <a:r>
              <a:rPr lang="en-US" dirty="0"/>
              <a:t>Api for output functions</a:t>
            </a:r>
          </a:p>
          <a:p>
            <a:r>
              <a:rPr lang="en-US" dirty="0"/>
              <a:t>Dashboard contains map, graphs and other inferences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C413D853-0529-1E8E-0DF1-8C6F2F5D5F30}"/>
              </a:ext>
            </a:extLst>
          </p:cNvPr>
          <p:cNvSpPr/>
          <p:nvPr/>
        </p:nvSpPr>
        <p:spPr>
          <a:xfrm rot="343773">
            <a:off x="5043948" y="2713703"/>
            <a:ext cx="1602658" cy="530942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8 hours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EC92F35F-5221-9731-AA87-D169EF0297A4}"/>
              </a:ext>
            </a:extLst>
          </p:cNvPr>
          <p:cNvSpPr/>
          <p:nvPr/>
        </p:nvSpPr>
        <p:spPr>
          <a:xfrm rot="343773">
            <a:off x="6995651" y="2182761"/>
            <a:ext cx="1602658" cy="530942"/>
          </a:xfrm>
          <a:prstGeom prst="round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8 hours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864F15EA-06E1-EB31-D57D-5D1DF1982A6E}"/>
              </a:ext>
            </a:extLst>
          </p:cNvPr>
          <p:cNvSpPr/>
          <p:nvPr/>
        </p:nvSpPr>
        <p:spPr>
          <a:xfrm rot="343773">
            <a:off x="6833042" y="3207375"/>
            <a:ext cx="1602658" cy="530942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2 hours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8EC0F7BE-C79F-2282-849C-12E57B7E14B8}"/>
              </a:ext>
            </a:extLst>
          </p:cNvPr>
          <p:cNvSpPr/>
          <p:nvPr/>
        </p:nvSpPr>
        <p:spPr>
          <a:xfrm rot="343773">
            <a:off x="5191432" y="3601781"/>
            <a:ext cx="1602658" cy="530942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4 hours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56A2197C-BA07-C779-9FF6-16C3ED771A0C}"/>
              </a:ext>
            </a:extLst>
          </p:cNvPr>
          <p:cNvSpPr/>
          <p:nvPr/>
        </p:nvSpPr>
        <p:spPr>
          <a:xfrm rot="343773">
            <a:off x="10122309" y="4132723"/>
            <a:ext cx="1602658" cy="530942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16 hours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5D1309A9-771B-E028-FDC0-A3821B1DD810}"/>
              </a:ext>
            </a:extLst>
          </p:cNvPr>
          <p:cNvSpPr/>
          <p:nvPr/>
        </p:nvSpPr>
        <p:spPr>
          <a:xfrm rot="343773">
            <a:off x="4916128" y="4872882"/>
            <a:ext cx="1602658" cy="530942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8 hours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92AB57C5-4AF7-CB71-6B5F-8C8E25AF58AD}"/>
              </a:ext>
            </a:extLst>
          </p:cNvPr>
          <p:cNvSpPr/>
          <p:nvPr/>
        </p:nvSpPr>
        <p:spPr>
          <a:xfrm rot="343773">
            <a:off x="9135397" y="5403824"/>
            <a:ext cx="1602658" cy="530942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16 hours</a:t>
            </a:r>
          </a:p>
        </p:txBody>
      </p:sp>
    </p:spTree>
    <p:extLst>
      <p:ext uri="{BB962C8B-B14F-4D97-AF65-F5344CB8AC3E}">
        <p14:creationId xmlns:p14="http://schemas.microsoft.com/office/powerpoint/2010/main" val="89572189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C73E06-6B70-345B-AA9F-DB9AF881D9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Some more Details: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584220D-6BE3-941F-489E-33ABC4A21C9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0801663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4DAB46-0CC7-5182-99DE-B97DE2CB20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DB: </a:t>
            </a:r>
            <a:r>
              <a:rPr lang="en-US" dirty="0" err="1"/>
              <a:t>PostGIS</a:t>
            </a:r>
            <a:r>
              <a:rPr lang="en-US" dirty="0"/>
              <a:t> + PostgreSQL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E673EE9-6F7C-119D-910C-F5873E9BDA3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numCol="2"/>
          <a:lstStyle/>
          <a:p>
            <a:r>
              <a:rPr lang="en-US" dirty="0" err="1"/>
              <a:t>Spitogatos</a:t>
            </a:r>
            <a:r>
              <a:rPr lang="en-US" dirty="0"/>
              <a:t> Assets</a:t>
            </a:r>
          </a:p>
          <a:p>
            <a:r>
              <a:rPr lang="en-US" dirty="0" err="1"/>
              <a:t>Cerved</a:t>
            </a:r>
            <a:r>
              <a:rPr lang="en-US" dirty="0"/>
              <a:t> Assets</a:t>
            </a:r>
          </a:p>
          <a:p>
            <a:r>
              <a:rPr lang="en-US" dirty="0" err="1"/>
              <a:t>DoValue</a:t>
            </a:r>
            <a:r>
              <a:rPr lang="en-US" dirty="0"/>
              <a:t> Assets</a:t>
            </a:r>
          </a:p>
          <a:p>
            <a:r>
              <a:rPr lang="en-US" dirty="0"/>
              <a:t>Landea Assets</a:t>
            </a:r>
          </a:p>
          <a:p>
            <a:r>
              <a:rPr lang="en-US" dirty="0"/>
              <a:t>Reinvest Assets</a:t>
            </a:r>
          </a:p>
          <a:p>
            <a:r>
              <a:rPr lang="en-US" dirty="0" err="1"/>
              <a:t>Intrum</a:t>
            </a:r>
            <a:r>
              <a:rPr lang="en-US" dirty="0"/>
              <a:t> Assets</a:t>
            </a:r>
          </a:p>
          <a:p>
            <a:r>
              <a:rPr lang="en-US" dirty="0"/>
              <a:t>TAX Transactions</a:t>
            </a:r>
          </a:p>
          <a:p>
            <a:endParaRPr lang="en-US" dirty="0"/>
          </a:p>
          <a:p>
            <a:r>
              <a:rPr lang="en-US" dirty="0"/>
              <a:t>Best Assets View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6221210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CC2A28-635B-5356-FC74-EF1634BC24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Cerved</a:t>
            </a:r>
            <a:r>
              <a:rPr lang="en-US" dirty="0"/>
              <a:t>, </a:t>
            </a:r>
            <a:r>
              <a:rPr lang="en-US" dirty="0" err="1"/>
              <a:t>ReInvest</a:t>
            </a:r>
            <a:r>
              <a:rPr lang="en-US" dirty="0"/>
              <a:t>, </a:t>
            </a:r>
            <a:r>
              <a:rPr lang="en-US" dirty="0" err="1"/>
              <a:t>Intrum</a:t>
            </a:r>
            <a:r>
              <a:rPr lang="en-US" dirty="0"/>
              <a:t> (WEB to DB)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BD2D2B-34DA-6F8C-7627-A541E4CAC30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/>
          <a:lstStyle/>
          <a:p>
            <a:r>
              <a:rPr lang="en-US" dirty="0"/>
              <a:t>Scrape All Assets. Into “{***}_assets”</a:t>
            </a:r>
          </a:p>
          <a:p>
            <a:pPr lvl="1"/>
            <a:r>
              <a:rPr lang="en-US" dirty="0"/>
              <a:t>May include inner scraping for each asset in order to get further information</a:t>
            </a:r>
          </a:p>
        </p:txBody>
      </p:sp>
    </p:spTree>
    <p:extLst>
      <p:ext uri="{BB962C8B-B14F-4D97-AF65-F5344CB8AC3E}">
        <p14:creationId xmlns:p14="http://schemas.microsoft.com/office/powerpoint/2010/main" val="371090993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EF4067-A81D-8DFD-130E-8E008CB7A5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0A3A87-C5AD-C9CD-9298-7EBCD7C0F2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Spitogatos</a:t>
            </a:r>
            <a:r>
              <a:rPr lang="en-US" dirty="0"/>
              <a:t> (WEB to DB)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1D56A83-72AE-7936-AA01-4C42735549C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/>
          <a:lstStyle/>
          <a:p>
            <a:r>
              <a:rPr lang="en-US" dirty="0"/>
              <a:t>Scrape All Assets. Given Certain Location. Into “</a:t>
            </a:r>
            <a:r>
              <a:rPr lang="en-US" dirty="0" err="1"/>
              <a:t>spitogatos_assets</a:t>
            </a:r>
            <a:r>
              <a:rPr lang="en-US" dirty="0"/>
              <a:t>”</a:t>
            </a:r>
          </a:p>
          <a:p>
            <a:r>
              <a:rPr lang="en-US" dirty="0"/>
              <a:t>Scrape Asset info. Given Asset ID. Into “</a:t>
            </a:r>
            <a:r>
              <a:rPr lang="en-US" dirty="0" err="1"/>
              <a:t>spitogatos_assets</a:t>
            </a:r>
            <a:r>
              <a:rPr lang="en-US" dirty="0"/>
              <a:t>”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3551499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9E2B2C-2124-32F0-77E0-C9689D2477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DA4902-891D-141A-728D-19C31830F8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Inner functions (DB to DB)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515F77A-62BA-C028-B59A-F14CB025340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/>
          <a:lstStyle/>
          <a:p>
            <a:r>
              <a:rPr lang="en-US" dirty="0"/>
              <a:t>Image Processing tools for image data (mainly inside URLs).</a:t>
            </a:r>
          </a:p>
          <a:p>
            <a:pPr lvl="1"/>
            <a:r>
              <a:rPr lang="en-US" dirty="0"/>
              <a:t>TODO: find such a tool</a:t>
            </a:r>
          </a:p>
          <a:p>
            <a:r>
              <a:rPr lang="en-US" dirty="0"/>
              <a:t>Revaluating According to “</a:t>
            </a:r>
            <a:r>
              <a:rPr lang="en-US" dirty="0" err="1"/>
              <a:t>spitogatos_assets</a:t>
            </a:r>
            <a:r>
              <a:rPr lang="en-US" dirty="0"/>
              <a:t>” Table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471504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814</TotalTime>
  <Words>231</Words>
  <Application>Microsoft Office PowerPoint</Application>
  <PresentationFormat>Widescreen</PresentationFormat>
  <Paragraphs>57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1" baseType="lpstr">
      <vt:lpstr>Arial</vt:lpstr>
      <vt:lpstr>Calibri</vt:lpstr>
      <vt:lpstr>Calibri Light</vt:lpstr>
      <vt:lpstr>Office Theme</vt:lpstr>
      <vt:lpstr>Process</vt:lpstr>
      <vt:lpstr>Developing Progress </vt:lpstr>
      <vt:lpstr>Some more Details:</vt:lpstr>
      <vt:lpstr>DB: PostGIS + PostgreSQL</vt:lpstr>
      <vt:lpstr>Cerved, ReInvest, Intrum (WEB to DB)</vt:lpstr>
      <vt:lpstr>Spitogatos (WEB to DB)</vt:lpstr>
      <vt:lpstr>Inner functions (DB to DB)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מיכאל כפיר</dc:creator>
  <cp:lastModifiedBy>מיכאל כפיר</cp:lastModifiedBy>
  <cp:revision>10</cp:revision>
  <dcterms:created xsi:type="dcterms:W3CDTF">2026-02-08T14:23:36Z</dcterms:created>
  <dcterms:modified xsi:type="dcterms:W3CDTF">2026-02-19T10:24:27Z</dcterms:modified>
</cp:coreProperties>
</file>